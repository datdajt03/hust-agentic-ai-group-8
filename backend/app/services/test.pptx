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53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F4FEA-4A90-FF01-BB77-C15BE760E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B68016-A69A-9769-A0B5-BD794D390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D5D06-1EF8-C9C2-4FA3-458DAA5C1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79DE0-50CF-4B1A-BAC0-486F444237B9}" type="datetimeFigureOut">
              <a:rPr lang="vi-VN" smtClean="0"/>
              <a:t>10/09/2025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C1058-207C-1DEE-1123-2AE4F6A6A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B5486-0F6C-F04D-E26E-EB1C6C85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D68C-1A76-4060-905D-CB6F6E61DA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0413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B0EBB-5E15-619B-8B77-F7BC41D07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32429-25DF-01B6-0493-AC3CAC208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FFD06-317B-E086-CF2E-6158E5B33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79DE0-50CF-4B1A-BAC0-486F444237B9}" type="datetimeFigureOut">
              <a:rPr lang="vi-VN" smtClean="0"/>
              <a:t>10/09/2025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E7430-B049-0761-F9DD-0CC96F1E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98C08-E27F-1C29-DFAD-BCFB11444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D68C-1A76-4060-905D-CB6F6E61DA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74629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FC48F-DB90-9093-C9DA-E99631D67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B9F86-517A-238F-C1C2-039300568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A7732-4B2E-E79C-0B5B-726BDC629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79DE0-50CF-4B1A-BAC0-486F444237B9}" type="datetimeFigureOut">
              <a:rPr lang="vi-VN" smtClean="0"/>
              <a:t>10/09/2025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52773-8AE3-C862-9879-F31A04905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5694E-E0D3-2DE4-E750-B77ACFAC9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D68C-1A76-4060-905D-CB6F6E61DA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31077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63913-DF6B-E797-A96F-75DF67538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08898-58D5-8E8A-19D1-AEA29ECA4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92A0C-D6F8-63EE-DBF2-9DC16BF3B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24D98-0E40-48C1-0CC0-A77003DFD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79DE0-50CF-4B1A-BAC0-486F444237B9}" type="datetimeFigureOut">
              <a:rPr lang="vi-VN" smtClean="0"/>
              <a:t>10/09/2025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FF451-C7AB-20A8-2356-B6D907EED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8C865-9758-0714-D414-DAA2C2590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D68C-1A76-4060-905D-CB6F6E61DA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49003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91F97-5961-4653-C583-897EB8FF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4FC4B-31A0-A9B2-E96A-F1B6C8FEF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33F8F-5C05-A536-9A85-05D29AB71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22AA1-EC45-62EC-856A-0F4C3D26B6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639ABC-3ECA-A5E5-9374-50D21ED63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A21C02-1844-EAE5-2C63-C456A9B3B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79DE0-50CF-4B1A-BAC0-486F444237B9}" type="datetimeFigureOut">
              <a:rPr lang="vi-VN" smtClean="0"/>
              <a:t>10/09/2025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1578B9-28C1-B059-4631-5319D7FB4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AF3CFE-8241-6F76-E6D2-4EFE8DAB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D68C-1A76-4060-905D-CB6F6E61DA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6489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BDFE2-C2DD-EC5B-9666-4C3591ED7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E3B1E-F96D-DC17-10A7-B1B94A130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79DE0-50CF-4B1A-BAC0-486F444237B9}" type="datetimeFigureOut">
              <a:rPr lang="vi-VN" smtClean="0"/>
              <a:t>10/09/2025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73D04-D4DC-14A4-80A8-213071882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4D622-27DC-A6E6-4DC4-F8D73576B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D68C-1A76-4060-905D-CB6F6E61DA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4638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B4369-C4C8-BC20-D5C6-94A7F40E9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79DE0-50CF-4B1A-BAC0-486F444237B9}" type="datetimeFigureOut">
              <a:rPr lang="vi-VN" smtClean="0"/>
              <a:t>10/09/2025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F5F9C-F7FD-3AF8-9371-99EBA0B34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F4A8E-0CF6-AA1C-CFD7-3222CEB4A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D68C-1A76-4060-905D-CB6F6E61DA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63774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A0FF-A452-5E51-853C-B74AE94D7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FE478-90A9-A2A5-B078-646121058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09911-1AD2-ABF6-3D5B-A00C91B4E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14177-49EC-E28B-E974-9F0B56A19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79DE0-50CF-4B1A-BAC0-486F444237B9}" type="datetimeFigureOut">
              <a:rPr lang="vi-VN" smtClean="0"/>
              <a:t>10/09/2025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CA0A7-57B7-3B71-657A-BFA5DA35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DEFCF-0B10-CDEA-85B1-B3FFD0922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D68C-1A76-4060-905D-CB6F6E61DA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72286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FCC29-03EB-05CC-49BB-8C06955E4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85A09A-4AD8-6314-540F-FB81484B02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641F13-1871-4E12-B3C8-33F7D5F91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7DE92-00E9-6C91-635F-5388C6B5A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79DE0-50CF-4B1A-BAC0-486F444237B9}" type="datetimeFigureOut">
              <a:rPr lang="vi-VN" smtClean="0"/>
              <a:t>10/09/2025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52787-000C-2353-6004-7A67365F7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8B250-9EC8-452D-E2F6-1CF2E9E2D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D68C-1A76-4060-905D-CB6F6E61DA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7695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B1EDE-5A5A-377A-B0D9-AA9491CDE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80E80-BBD6-7D93-701B-55DB5D8F4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361F9-ACDE-AB69-9DAB-9B11EEE47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79DE0-50CF-4B1A-BAC0-486F444237B9}" type="datetimeFigureOut">
              <a:rPr lang="vi-VN" smtClean="0"/>
              <a:t>10/09/2025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9CC74-D57E-8BA4-34D9-EF00112AF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4D9A8-28F4-1856-9F2B-263B9D11F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D68C-1A76-4060-905D-CB6F6E61DA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93963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851481-C788-7340-E629-391807572D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ED8F6-E7F2-3948-2889-8AF05ADF8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67773-B1EA-5829-FB87-E6B24F9BE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79DE0-50CF-4B1A-BAC0-486F444237B9}" type="datetimeFigureOut">
              <a:rPr lang="vi-VN" smtClean="0"/>
              <a:t>10/09/2025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317E2-C3B5-59C6-AA95-C0595AED4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E5F7-400C-C1A5-A9F7-0DE597E78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D68C-1A76-4060-905D-CB6F6E61DA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08146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E4B28E-22C1-EDB9-89C8-99FE8FC07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123F5-F8EF-A66A-D509-3AFF520AC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C521-83A5-F062-2817-DA80BAB47D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79DE0-50CF-4B1A-BAC0-486F444237B9}" type="datetimeFigureOut">
              <a:rPr lang="vi-VN" smtClean="0"/>
              <a:t>10/09/2025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0E3E2-1ED6-6C42-08B9-8FA6D5897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5B129-941D-F59D-AEE8-AC90B59CAE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D68C-1A76-4060-905D-CB6F6E61DAB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64789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52CB-8F69-80B6-E78A-5986CD3DCA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Global attention                                      Lobal attention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Here are the key observations from the provided diagram: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1.  **Overall Architecture:** The diagram illustrates a sequence-to-sequence model with an explicit "Attention Layer," commonly used in tasks like Neural Machine Translation or speech recognition.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2.  **Encoder States (`</a:t>
            </a:r>
            <a:r>
              <a:rPr lang="en-US" dirty="0" err="1"/>
              <a:t>h_s</a:t>
            </a:r>
            <a:r>
              <a:rPr lang="en-US" dirty="0"/>
              <a:t>`):** The blue rectangles represent a series of hidden states (`</a:t>
            </a:r>
            <a:r>
              <a:rPr lang="en-US" dirty="0" err="1"/>
              <a:t>h_s</a:t>
            </a:r>
            <a:r>
              <a:rPr lang="en-US" dirty="0"/>
              <a:t>` with a bar) generated from an input sequence (likely by an encoder, indicated by the multiple upward input arrows at the bottom and the sequential right-pointing arrows). These states collectively store information about the entire source sequence.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3.  **Decoder State (`</a:t>
            </a:r>
            <a:r>
              <a:rPr lang="en-US" dirty="0" err="1"/>
              <a:t>h_t</a:t>
            </a:r>
            <a:r>
              <a:rPr lang="en-US" dirty="0"/>
              <a:t>`):** The brown rectangles represent hidden states (`</a:t>
            </a:r>
            <a:r>
              <a:rPr lang="en-US" dirty="0" err="1"/>
              <a:t>h_t</a:t>
            </a:r>
            <a:r>
              <a:rPr lang="en-US" dirty="0"/>
              <a:t>`) from the target sequence (likely a decoder). `</a:t>
            </a:r>
            <a:r>
              <a:rPr lang="en-US" dirty="0" err="1"/>
              <a:t>h_t</a:t>
            </a:r>
            <a:r>
              <a:rPr lang="en-US" dirty="0"/>
              <a:t>` specifically refers to the current hidden state of the decoder.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4.  **Attention Layer Inputs:** The "Attention Layer" takes two main types of inputs for each decoding step:</a:t>
            </a:r>
            <a:br>
              <a:rPr lang="en-US" dirty="0"/>
            </a:br>
            <a:r>
              <a:rPr lang="en-US" dirty="0"/>
              <a:t>    *   **All Source Hidden States (`</a:t>
            </a:r>
            <a:r>
              <a:rPr lang="en-US" dirty="0" err="1"/>
              <a:t>h_s</a:t>
            </a:r>
            <a:r>
              <a:rPr lang="en-US" dirty="0"/>
              <a:t>`):** All the blue `</a:t>
            </a:r>
            <a:r>
              <a:rPr lang="en-US" dirty="0" err="1"/>
              <a:t>h_s</a:t>
            </a:r>
            <a:r>
              <a:rPr lang="en-US" dirty="0"/>
              <a:t>` states.</a:t>
            </a:r>
            <a:br>
              <a:rPr lang="en-US" dirty="0"/>
            </a:br>
            <a:r>
              <a:rPr lang="en-US" dirty="0"/>
              <a:t>    *   **Current Decoder Hidden State (`</a:t>
            </a:r>
            <a:r>
              <a:rPr lang="en-US" dirty="0" err="1"/>
              <a:t>h_t</a:t>
            </a:r>
            <a:r>
              <a:rPr lang="en-US" dirty="0"/>
              <a:t>`):** The current brown `</a:t>
            </a:r>
            <a:r>
              <a:rPr lang="en-US" dirty="0" err="1"/>
              <a:t>h_t</a:t>
            </a:r>
            <a:r>
              <a:rPr lang="en-US" dirty="0"/>
              <a:t>` state.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5.  **Global Alignment Weights (`</a:t>
            </a:r>
            <a:r>
              <a:rPr lang="en-US" dirty="0" err="1"/>
              <a:t>a_t</a:t>
            </a:r>
            <a:r>
              <a:rPr lang="en-US" dirty="0"/>
              <a:t>`):**</a:t>
            </a:r>
            <a:br>
              <a:rPr lang="en-US" dirty="0"/>
            </a:br>
            <a:r>
              <a:rPr lang="en-US" dirty="0"/>
              <a:t>    *   The current decoder state `</a:t>
            </a:r>
            <a:r>
              <a:rPr lang="en-US" dirty="0" err="1"/>
              <a:t>h_t</a:t>
            </a:r>
            <a:r>
              <a:rPr lang="en-US" dirty="0"/>
              <a:t>` is compared with *all* source hidden states `</a:t>
            </a:r>
            <a:r>
              <a:rPr lang="en-US" dirty="0" err="1"/>
              <a:t>h_s</a:t>
            </a:r>
            <a:r>
              <a:rPr lang="en-US" dirty="0"/>
              <a:t>` to compute `</a:t>
            </a:r>
            <a:r>
              <a:rPr lang="en-US" dirty="0" err="1"/>
              <a:t>a_t</a:t>
            </a:r>
            <a:r>
              <a:rPr lang="en-US" dirty="0"/>
              <a:t>` (Global align weights). The dashed lines from `</a:t>
            </a:r>
            <a:r>
              <a:rPr lang="en-US" dirty="0" err="1"/>
              <a:t>h_s</a:t>
            </a:r>
            <a:r>
              <a:rPr lang="en-US" dirty="0"/>
              <a:t>` to `</a:t>
            </a:r>
            <a:r>
              <a:rPr lang="en-US" dirty="0" err="1"/>
              <a:t>a_t</a:t>
            </a:r>
            <a:r>
              <a:rPr lang="en-US" dirty="0"/>
              <a:t>` and the solid line from `</a:t>
            </a:r>
            <a:r>
              <a:rPr lang="en-US" dirty="0" err="1"/>
              <a:t>h_t</a:t>
            </a:r>
            <a:r>
              <a:rPr lang="en-US" dirty="0"/>
              <a:t>` to `</a:t>
            </a:r>
            <a:r>
              <a:rPr lang="en-US" dirty="0" err="1"/>
              <a:t>a_t</a:t>
            </a:r>
            <a:r>
              <a:rPr lang="en-US" dirty="0"/>
              <a:t>` indicate this calculation.</a:t>
            </a:r>
            <a:br>
              <a:rPr lang="en-US" dirty="0"/>
            </a:br>
            <a:r>
              <a:rPr lang="en-US" dirty="0"/>
              <a:t>    *   `</a:t>
            </a:r>
            <a:r>
              <a:rPr lang="en-US" dirty="0" err="1"/>
              <a:t>a_t</a:t>
            </a:r>
            <a:r>
              <a:rPr lang="en-US" dirty="0"/>
              <a:t>` is a vector of weights, where each weight corresponds to the importance or relevance of a specific `</a:t>
            </a:r>
            <a:r>
              <a:rPr lang="en-US" dirty="0" err="1"/>
              <a:t>h_s</a:t>
            </a:r>
            <a:r>
              <a:rPr lang="en-US" dirty="0"/>
              <a:t>` state for generating the current target output.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6.  **Context Vector (`</a:t>
            </a:r>
            <a:r>
              <a:rPr lang="en-US" dirty="0" err="1"/>
              <a:t>c_t</a:t>
            </a:r>
            <a:r>
              <a:rPr lang="en-US" dirty="0"/>
              <a:t>`):**</a:t>
            </a:r>
            <a:br>
              <a:rPr lang="en-US" dirty="0"/>
            </a:br>
            <a:r>
              <a:rPr lang="en-US" dirty="0"/>
              <a:t>    *   The "Global align weights" `</a:t>
            </a:r>
            <a:r>
              <a:rPr lang="en-US" dirty="0" err="1"/>
              <a:t>a_t</a:t>
            </a:r>
            <a:r>
              <a:rPr lang="en-US" dirty="0"/>
              <a:t>` are used to compute a weighted sum of the source hidden states `</a:t>
            </a:r>
            <a:r>
              <a:rPr lang="en-US" dirty="0" err="1"/>
              <a:t>h_s</a:t>
            </a:r>
            <a:r>
              <a:rPr lang="en-US" dirty="0"/>
              <a:t>`, resulting in the "Context vector" `</a:t>
            </a:r>
            <a:r>
              <a:rPr lang="en-US" dirty="0" err="1"/>
              <a:t>c_t</a:t>
            </a:r>
            <a:r>
              <a:rPr lang="en-US" dirty="0"/>
              <a:t>`. The lines from `</a:t>
            </a:r>
            <a:r>
              <a:rPr lang="en-US" dirty="0" err="1"/>
              <a:t>h_s</a:t>
            </a:r>
            <a:r>
              <a:rPr lang="en-US" dirty="0"/>
              <a:t>` converging into the node that produces `</a:t>
            </a:r>
            <a:r>
              <a:rPr lang="en-US" dirty="0" err="1"/>
              <a:t>c_t</a:t>
            </a:r>
            <a:r>
              <a:rPr lang="en-US" dirty="0"/>
              <a:t>`, along with the implied use of `</a:t>
            </a:r>
            <a:r>
              <a:rPr lang="en-US" dirty="0" err="1"/>
              <a:t>a_t</a:t>
            </a:r>
            <a:r>
              <a:rPr lang="en-US" dirty="0"/>
              <a:t>`, demonstrate this.</a:t>
            </a:r>
            <a:br>
              <a:rPr lang="en-US" dirty="0"/>
            </a:br>
            <a:r>
              <a:rPr lang="en-US" dirty="0"/>
              <a:t>    *   `</a:t>
            </a:r>
            <a:r>
              <a:rPr lang="en-US" dirty="0" err="1"/>
              <a:t>c_t</a:t>
            </a:r>
            <a:r>
              <a:rPr lang="en-US" dirty="0"/>
              <a:t>` is a dynamic summary of the most relevant information from the source sequence, specific to the current decoding step.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7.  **Combined Hidden State (`~</a:t>
            </a:r>
            <a:r>
              <a:rPr lang="en-US" dirty="0" err="1"/>
              <a:t>h_t</a:t>
            </a:r>
            <a:r>
              <a:rPr lang="en-US" dirty="0"/>
              <a:t>`):**</a:t>
            </a:r>
            <a:br>
              <a:rPr lang="en-US" dirty="0"/>
            </a:br>
            <a:r>
              <a:rPr lang="en-US" dirty="0"/>
              <a:t>    *   The context vector `</a:t>
            </a:r>
            <a:r>
              <a:rPr lang="en-US" dirty="0" err="1"/>
              <a:t>c_t</a:t>
            </a:r>
            <a:r>
              <a:rPr lang="en-US" dirty="0"/>
              <a:t>` is then combined (e.g., concatenated or summed and transformed) with the current decoder hidden state `</a:t>
            </a:r>
            <a:r>
              <a:rPr lang="en-US" dirty="0" err="1"/>
              <a:t>h_t</a:t>
            </a:r>
            <a:r>
              <a:rPr lang="en-US" dirty="0"/>
              <a:t>` to produce a new, attention-enhanced hidden state, denoted as `~</a:t>
            </a:r>
            <a:r>
              <a:rPr lang="en-US" dirty="0" err="1"/>
              <a:t>h_t</a:t>
            </a:r>
            <a:r>
              <a:rPr lang="en-US" dirty="0"/>
              <a:t>` (tilde </a:t>
            </a:r>
            <a:r>
              <a:rPr lang="en-US" dirty="0" err="1"/>
              <a:t>h_t</a:t>
            </a:r>
            <a:r>
              <a:rPr lang="en-US" dirty="0"/>
              <a:t>). This enriches the decoder's understanding with relevant source information.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8.  **Output Prediction (`</a:t>
            </a:r>
            <a:r>
              <a:rPr lang="en-US" dirty="0" err="1"/>
              <a:t>y_t</a:t>
            </a:r>
            <a:r>
              <a:rPr lang="en-US" dirty="0"/>
              <a:t>`):**</a:t>
            </a:r>
            <a:br>
              <a:rPr lang="en-US" dirty="0"/>
            </a:br>
            <a:r>
              <a:rPr lang="en-US" dirty="0"/>
              <a:t>    *   The final output `</a:t>
            </a:r>
            <a:r>
              <a:rPr lang="en-US" dirty="0" err="1"/>
              <a:t>y_t</a:t>
            </a:r>
            <a:r>
              <a:rPr lang="en-US" dirty="0"/>
              <a:t>` at the current timestep is predicted based on this combined, attention-aware hidden state `~</a:t>
            </a:r>
            <a:r>
              <a:rPr lang="en-US" dirty="0" err="1"/>
              <a:t>h_t</a:t>
            </a:r>
            <a:r>
              <a:rPr lang="en-US" dirty="0"/>
              <a:t>`.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9.  **Sequential Processing:** Both the encoder states (`</a:t>
            </a:r>
            <a:r>
              <a:rPr lang="en-US" dirty="0" err="1"/>
              <a:t>h_s</a:t>
            </a:r>
            <a:r>
              <a:rPr lang="en-US" dirty="0"/>
              <a:t>`) and decoder states (`</a:t>
            </a:r>
            <a:r>
              <a:rPr lang="en-US" dirty="0" err="1"/>
              <a:t>h_t</a:t>
            </a:r>
            <a:r>
              <a:rPr lang="en-US" dirty="0"/>
              <a:t>`) are generated sequentially, as indicated by the right-pointing arrows between the rectangles. The attention mechanism operates at each decoding step (`t`).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10. **Dynamic Focus:** The attention mechanism allows the decoder to dynamically focus on different parts of the source sequence at each step of generating the target sequence, rather than being limited to a single fixed-size context vector from the encoder.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Here are the key observations from the provided diagram: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1.  **Overall Architecture:** The diagram illustrates a sequence-to-sequence (Seq2Seq) model with an attention mechanism, likely for tasks like machine translation or speech recognition.</a:t>
            </a:r>
            <a:br>
              <a:rPr lang="en-US" dirty="0"/>
            </a:br>
            <a:r>
              <a:rPr lang="en-US" dirty="0"/>
              <a:t>2.  **Encoder-Decoder Structure:**</a:t>
            </a:r>
            <a:br>
              <a:rPr lang="en-US" dirty="0"/>
            </a:br>
            <a:r>
              <a:rPr lang="en-US" dirty="0"/>
              <a:t>    *   The blue rectangular boxes on the left (`$\bar{h}_s$`) represent hidden states of an **encoder** (e.g., a Bi-directional RNN or LSTM), which process the input sequence.</a:t>
            </a:r>
            <a:br>
              <a:rPr lang="en-US" dirty="0"/>
            </a:br>
            <a:r>
              <a:rPr lang="en-US" dirty="0"/>
              <a:t>    *   The brown rectangular boxes on the right (`$</a:t>
            </a:r>
            <a:r>
              <a:rPr lang="en-US" dirty="0" err="1"/>
              <a:t>h_t</a:t>
            </a:r>
            <a:r>
              <a:rPr lang="en-US" dirty="0"/>
              <a:t>$`) represent hidden states of a **decoder** (e.g., an RNN or LSTM), which generate the output sequence. The subscript 't' indicates the current decoding time step.</a:t>
            </a:r>
            <a:br>
              <a:rPr lang="en-US" dirty="0"/>
            </a:br>
            <a:r>
              <a:rPr lang="en-US" dirty="0"/>
              <a:t>3.  **Attention Layer:** A crucial component, highlighted by the dashed box, that connects the decoder to the encoder's output.</a:t>
            </a:r>
            <a:br>
              <a:rPr lang="en-US" dirty="0"/>
            </a:br>
            <a:r>
              <a:rPr lang="en-US" dirty="0"/>
              <a:t>    *   **Inputs to Attention:** The attention layer takes the current decoder hidden state (`$</a:t>
            </a:r>
            <a:r>
              <a:rPr lang="en-US" dirty="0" err="1"/>
              <a:t>h_t</a:t>
            </a:r>
            <a:r>
              <a:rPr lang="en-US" dirty="0"/>
              <a:t>$`) and all encoder hidden states (`$\bar{h}_s$`) as input.</a:t>
            </a:r>
            <a:br>
              <a:rPr lang="en-US" dirty="0"/>
            </a:br>
            <a:r>
              <a:rPr lang="en-US" dirty="0"/>
              <a:t>    *   **Output of Attention:** The primary output of the attention layer is the **Context vector** (`$</a:t>
            </a:r>
            <a:r>
              <a:rPr lang="en-US" dirty="0" err="1"/>
              <a:t>c_t</a:t>
            </a:r>
            <a:r>
              <a:rPr lang="en-US" dirty="0"/>
              <a:t>$`).</a:t>
            </a:r>
            <a:br>
              <a:rPr lang="en-US" dirty="0"/>
            </a:br>
            <a:r>
              <a:rPr lang="en-US" dirty="0"/>
              <a:t>4.  **Local Attention Mechanism:** The labels within the attention layer suggest a specific type of attention:</a:t>
            </a:r>
            <a:br>
              <a:rPr lang="en-US" dirty="0"/>
            </a:br>
            <a:r>
              <a:rPr lang="en-US" dirty="0"/>
              <a:t>    *   **Aligned Position (`$</a:t>
            </a:r>
            <a:r>
              <a:rPr lang="en-US" dirty="0" err="1"/>
              <a:t>p_t</a:t>
            </a:r>
            <a:r>
              <a:rPr lang="en-US" dirty="0"/>
              <a:t>$`):** The current decoder state (`$</a:t>
            </a:r>
            <a:r>
              <a:rPr lang="en-US" dirty="0" err="1"/>
              <a:t>h_t</a:t>
            </a:r>
            <a:r>
              <a:rPr lang="en-US" dirty="0"/>
              <a:t>$`) is used to predict an "aligned position" `$</a:t>
            </a:r>
            <a:r>
              <a:rPr lang="en-US" dirty="0" err="1"/>
              <a:t>p_t</a:t>
            </a:r>
            <a:r>
              <a:rPr lang="en-US" dirty="0"/>
              <a:t>$`. This hints at a *local attention* mechanism, where the attention is focused around a specific predicted alignment point in the source sequence, rather than attending globally over all source hidden states.</a:t>
            </a:r>
            <a:br>
              <a:rPr lang="en-US" dirty="0"/>
            </a:br>
            <a:r>
              <a:rPr lang="en-US" dirty="0"/>
              <a:t>    *   **Local Weights (`$</a:t>
            </a:r>
            <a:r>
              <a:rPr lang="en-US" dirty="0" err="1"/>
              <a:t>a_t</a:t>
            </a:r>
            <a:r>
              <a:rPr lang="en-US" dirty="0"/>
              <a:t>$`):** The "local weights" `$</a:t>
            </a:r>
            <a:r>
              <a:rPr lang="en-US" dirty="0" err="1"/>
              <a:t>a_t</a:t>
            </a:r>
            <a:r>
              <a:rPr lang="en-US" dirty="0"/>
              <a:t>$` are computed based on the current decoder state (`$</a:t>
            </a:r>
            <a:r>
              <a:rPr lang="en-US" dirty="0" err="1"/>
              <a:t>h_t</a:t>
            </a:r>
            <a:r>
              <a:rPr lang="en-US" dirty="0"/>
              <a:t>$`) and potentially the predicted aligned position (`$</a:t>
            </a:r>
            <a:r>
              <a:rPr lang="en-US" dirty="0" err="1"/>
              <a:t>p_t</a:t>
            </a:r>
            <a:r>
              <a:rPr lang="en-US" dirty="0"/>
              <a:t>$`). These weights determine the importance of each encoder hidden state. The dashed lines from `$</a:t>
            </a:r>
            <a:r>
              <a:rPr lang="en-US" dirty="0" err="1"/>
              <a:t>p_t</a:t>
            </a:r>
            <a:r>
              <a:rPr lang="en-US" dirty="0"/>
              <a:t>$` to `$</a:t>
            </a:r>
            <a:r>
              <a:rPr lang="en-US" dirty="0" err="1"/>
              <a:t>a_t</a:t>
            </a:r>
            <a:r>
              <a:rPr lang="en-US" dirty="0"/>
              <a:t>$` and from `$</a:t>
            </a:r>
            <a:r>
              <a:rPr lang="en-US" dirty="0" err="1"/>
              <a:t>h_t</a:t>
            </a:r>
            <a:r>
              <a:rPr lang="en-US" dirty="0"/>
              <a:t>$` to `$</a:t>
            </a:r>
            <a:r>
              <a:rPr lang="en-US" dirty="0" err="1"/>
              <a:t>a_t</a:t>
            </a:r>
            <a:r>
              <a:rPr lang="en-US" dirty="0"/>
              <a:t>$` reinforce this.</a:t>
            </a:r>
            <a:br>
              <a:rPr lang="en-US" dirty="0"/>
            </a:br>
            <a:r>
              <a:rPr lang="en-US" dirty="0"/>
              <a:t>    *   **Context Vector Calculation:** The context vector `$</a:t>
            </a:r>
            <a:r>
              <a:rPr lang="en-US" dirty="0" err="1"/>
              <a:t>c_t</a:t>
            </a:r>
            <a:r>
              <a:rPr lang="en-US" dirty="0"/>
              <a:t>$` is calculated as a weighted sum of the encoder hidden states (`$\bar{h}_s$`), where the weights are given by `$</a:t>
            </a:r>
            <a:r>
              <a:rPr lang="en-US" dirty="0" err="1"/>
              <a:t>a_t</a:t>
            </a:r>
            <a:r>
              <a:rPr lang="en-US" dirty="0"/>
              <a:t>$`.</a:t>
            </a:r>
            <a:br>
              <a:rPr lang="en-US" dirty="0"/>
            </a:br>
            <a:r>
              <a:rPr lang="en-US" dirty="0"/>
              <a:t>5.  **Output Generation:**</a:t>
            </a:r>
            <a:br>
              <a:rPr lang="en-US" dirty="0"/>
            </a:br>
            <a:r>
              <a:rPr lang="en-US" dirty="0"/>
              <a:t>    *   The context vector (`$</a:t>
            </a:r>
            <a:r>
              <a:rPr lang="en-US" dirty="0" err="1"/>
              <a:t>c_t</a:t>
            </a:r>
            <a:r>
              <a:rPr lang="en-US" dirty="0"/>
              <a:t>$`) from the attention layer is combined (e.g., concatenated and transformed) with the current decoder hidden state (`$</a:t>
            </a:r>
            <a:r>
              <a:rPr lang="en-US" dirty="0" err="1"/>
              <a:t>h_t</a:t>
            </a:r>
            <a:r>
              <a:rPr lang="en-US" dirty="0"/>
              <a:t>$`) to produce a new, enhanced decoder state (`$\tilde{h}_t$`, shown as a grey box).</a:t>
            </a:r>
            <a:br>
              <a:rPr lang="en-US" dirty="0"/>
            </a:br>
            <a:r>
              <a:rPr lang="en-US" dirty="0"/>
              <a:t>    *   This combined state (`$\tilde{h}_t$`) is then used to predict the output token `$</a:t>
            </a:r>
            <a:r>
              <a:rPr lang="en-US" dirty="0" err="1"/>
              <a:t>y_t</a:t>
            </a:r>
            <a:r>
              <a:rPr lang="en-US" dirty="0"/>
              <a:t>$` at time step `t`.</a:t>
            </a:r>
            <a:br>
              <a:rPr lang="en-US" dirty="0"/>
            </a:br>
            <a:r>
              <a:rPr lang="en-US" dirty="0"/>
              <a:t>6.  **Time Dependency:** The subscript 't' on `$</a:t>
            </a:r>
            <a:r>
              <a:rPr lang="en-US" dirty="0" err="1"/>
              <a:t>h_t</a:t>
            </a:r>
            <a:r>
              <a:rPr lang="en-US" dirty="0"/>
              <a:t>$`, `$</a:t>
            </a:r>
            <a:r>
              <a:rPr lang="en-US" dirty="0" err="1"/>
              <a:t>p_t</a:t>
            </a:r>
            <a:r>
              <a:rPr lang="en-US" dirty="0"/>
              <a:t>$`, `$</a:t>
            </a:r>
            <a:r>
              <a:rPr lang="en-US" dirty="0" err="1"/>
              <a:t>a_t</a:t>
            </a:r>
            <a:r>
              <a:rPr lang="en-US" dirty="0"/>
              <a:t>$`, `$</a:t>
            </a:r>
            <a:r>
              <a:rPr lang="en-US" dirty="0" err="1"/>
              <a:t>c_t</a:t>
            </a:r>
            <a:r>
              <a:rPr lang="en-US" dirty="0"/>
              <a:t>$`, `$\tilde{h}_t$`, and `$</a:t>
            </a:r>
            <a:r>
              <a:rPr lang="en-US" dirty="0" err="1"/>
              <a:t>y_t</a:t>
            </a:r>
            <a:r>
              <a:rPr lang="en-US" dirty="0"/>
              <a:t>$` indicates that these components are computed dynamically at each time step of the decoder. The encoder states `$\bar{h}_s$` are static once the input sequence is processed.</a:t>
            </a:r>
            <a:endParaRPr lang="vi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CE883-372E-AFD1-60CF-E36D1C0DFB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7368C2-CE71-9227-8DC8-7DD5CDC19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75" y="1600200"/>
            <a:ext cx="3857625" cy="508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418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1329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Global attention                                      Lobal attention  Here are the key observations from the provided diagram:  1.  **Overall Architecture:** The diagram illustrates a sequence-to-sequence model with an explicit "Attention Layer," commonly used in tasks like Neural Machine Translation or speech recognition.  2.  **Encoder States (`h_s`):** The blue rectangles represent a series of hidden states (`h_s` with a bar) generated from an input sequence (likely by an encoder, indicated by the multiple upward input arrows at the bottom and the sequential right-pointing arrows). These states collectively store information about the entire source sequence.  3.  **Decoder State (`h_t`):** The brown rectangles represent hidden states (`h_t`) from the target sequence (likely a decoder). `h_t` specifically refers to the current hidden state of the decoder.  4.  **Attention Layer Inputs:** The "Attention Layer" takes two main types of inputs for each decoding step:     *   **All Source Hidden States (`h_s`):** All the blue `h_s` states.     *   **Current Decoder Hidden State (`h_t`):** The current brown `h_t` state.  5.  **Global Alignment Weights (`a_t`):**     *   The current decoder state `h_t` is compared with *all* source hidden states `h_s` to compute `a_t` (Global align weights). The dashed lines from `h_s` to `a_t` and the solid line from `h_t` to `a_t` indicate this calculation.     *   `a_t` is a vector of weights, where each weight corresponds to the importance or relevance of a specific `h_s` state for generating the current target output.  6.  **Context Vector (`c_t`):**     *   The "Global align weights" `a_t` are used to compute a weighted sum of the source hidden states `h_s`, resulting in the "Context vector" `c_t`. The lines from `h_s` converging into the node that produces `c_t`, along with the implied use of `a_t`, demonstrate this.     *   `c_t` is a dynamic summary of the most relevant information from the source sequence, specific to the current decoding step.  7.  **Combined Hidden State (`~h_t`):**     *   The context vector `c_t` is then combined (e.g., concatenated or summed and transformed) with the current decoder hidden state `h_t` to produce a new, attention-enhanced hidden state, denoted as `~h_t` (tilde h_t). This enriches the decoder's understanding with relevant source information.  8.  **Output Prediction (`y_t`):**     *   The final output `y_t` at the current timestep is predicted based on this combined, attention-aware hidden state `~h_t`.  9.  **Sequential Processing:** Both the encoder states (`h_s`) and decoder states (`h_t`) are generated sequentially, as indicated by the right-pointing arrows between the rectangles. The attention mechanism operates at each decoding step (`t`).  10. **Dynamic Focus:** The attention mechanism allows the decoder to dynamically focus on different parts of the source sequence at each step of generating the target sequence, rather than being limited to a single fixed-size context vector from the encoder.  Here are the key observations from the provided diagram:  1.  **Overall Architecture:** The diagram illustrates a sequence-to-sequence (Seq2Seq) model with an attention mechanism, likely for tasks like machine translation or speech recognition. 2.  **Encoder-Decoder Structure:**     *   The blue rectangular boxes on the left (`$\bar{h}_s$`) represent hidden states of an **encoder** (e.g., a Bi-directional RNN or LSTM), which process the input sequence.     *   The brown rectangular boxes on the right (`$h_t$`) represent hidden states of a **decoder** (e.g., an RNN or LSTM), which generate the output sequence. The subscript 't' indicates the current decoding time step. 3.  **Attention Layer:** A crucial component, highlighted by the dashed box, that connects the decoder to the encoder's output.     *   **Inputs to Attention:** The attention layer takes the current decoder hidden state (`$h_t$`) and all encoder hidden states (`$\bar{h}_s$`) as input.     *   **Output of Attention:** The primary output of the attention layer is the **Context vector** (`$c_t$`). 4.  **Local Attention Mechanism:** The labels within the attention layer suggest a specific type of attention:     *   **Aligned Position (`$p_t$`):** The current decoder state (`$h_t$`) is used to predict an "aligned position" `$p_t$`. This hints at a *local attention* mechanism, where the attention is focused around a specific predicted alignment point in the source sequence, rather than attending globally over all source hidden states.     *   **Local Weights (`$a_t$`):** The "local weights" `$a_t$` are computed based on the current decoder state (`$h_t$`) and potentially the predicted aligned position (`$p_t$`). These weights determine the importance of each encoder hidden state. The dashed lines from `$p_t$` to `$a_t$` and from `$h_t$` to `$a_t$` reinforce this.     *   **Context Vector Calculation:** The context vector `$c_t$` is calculated as a weighted sum of the encoder hidden states (`$\bar{h}_s$`), where the weights are given by `$a_t$`. 5.  **Output Generation:**     *   The context vector (`$c_t$`) from the attention layer is combined (e.g., concatenated and transformed) with the current decoder hidden state (`$h_t$`) to produce a new, enhanced decoder state (`$\tilde{h}_t$`, shown as a grey box).     *   This combined state (`$\tilde{h}_t$`) is then used to predict the output token `$y_t$` at time step `t`. 6.  **Time Dependency:** The subscript 't' on `$h_t$`, `$p_t$`, `$a_t$`, `$c_t$`, `$\tilde{h}_t$`, and `$y_t$` indicates that these components are computed dynamically at each time step of the decoder. The encoder states `$\bar{h}_s$` are static once the input sequence is processed.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Công Trình Nguyễn</dc:creator>
  <cp:lastModifiedBy>Công Trình Nguyễn</cp:lastModifiedBy>
  <cp:revision>2</cp:revision>
  <dcterms:created xsi:type="dcterms:W3CDTF">2025-09-10T01:12:04Z</dcterms:created>
  <dcterms:modified xsi:type="dcterms:W3CDTF">2025-09-10T02:29:51Z</dcterms:modified>
</cp:coreProperties>
</file>